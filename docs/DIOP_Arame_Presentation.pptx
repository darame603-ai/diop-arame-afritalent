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60" r:id="rId4"/>
    <p:sldId id="262" r:id="rId5"/>
    <p:sldId id="263" r:id="rId6"/>
    <p:sldId id="264" r:id="rId7"/>
    <p:sldId id="265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6" r:id="rId17"/>
    <p:sldId id="277" r:id="rId18"/>
    <p:sldId id="27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FB0F9E05-8550-4BAF-AF86-73E24FDBCFDE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A0A8A30-8D80-417A-A41C-1A200C4442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3700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E05-8550-4BAF-AF86-73E24FDBCFDE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8A30-8D80-417A-A41C-1A200C4442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8160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E05-8550-4BAF-AF86-73E24FDBCFDE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8A30-8D80-417A-A41C-1A200C4442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1726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E05-8550-4BAF-AF86-73E24FDBCFDE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8A30-8D80-417A-A41C-1A200C4442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255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E05-8550-4BAF-AF86-73E24FDBCFDE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8A30-8D80-417A-A41C-1A200C4442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4454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E05-8550-4BAF-AF86-73E24FDBCFDE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8A30-8D80-417A-A41C-1A200C4442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3505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E05-8550-4BAF-AF86-73E24FDBCFDE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8A30-8D80-417A-A41C-1A200C4442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9275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E05-8550-4BAF-AF86-73E24FDBCFDE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8A30-8D80-417A-A41C-1A200C4442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619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E05-8550-4BAF-AF86-73E24FDBCFDE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8A30-8D80-417A-A41C-1A200C4442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7722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E05-8550-4BAF-AF86-73E24FDBCFDE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8A30-8D80-417A-A41C-1A200C4442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430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E05-8550-4BAF-AF86-73E24FDBCFDE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8A30-8D80-417A-A41C-1A200C4442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2416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E05-8550-4BAF-AF86-73E24FDBCFDE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8A30-8D80-417A-A41C-1A200C4442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0973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E05-8550-4BAF-AF86-73E24FDBCFDE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8A30-8D80-417A-A41C-1A200C4442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1331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E05-8550-4BAF-AF86-73E24FDBCFDE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8A30-8D80-417A-A41C-1A200C4442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291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E05-8550-4BAF-AF86-73E24FDBCFDE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8A30-8D80-417A-A41C-1A200C4442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5241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FB0F9E05-8550-4BAF-AF86-73E24FDBCFDE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8A30-8D80-417A-A41C-1A200C4442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47817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FB0F9E05-8550-4BAF-AF86-73E24FDBCFDE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8A30-8D80-417A-A41C-1A200C4442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95968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F9E05-8550-4BAF-AF86-73E24FDBCFDE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A8A30-8D80-417A-A41C-1A200C4442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5547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FB0F9E05-8550-4BAF-AF86-73E24FDBCFDE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A0A8A30-8D80-417A-A41C-1A200C4442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6694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arame603-ai.github.io/Diop-Arame-Afritalent/" TargetMode="Externa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EED505-2D2F-4670-9FC4-5CBA6175A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            AFRITALENT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D38B13B-72FB-4051-ABAE-9DC19D17C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79"/>
            <a:ext cx="8825658" cy="1533773"/>
          </a:xfrm>
        </p:spPr>
        <p:txBody>
          <a:bodyPr>
            <a:normAutofit/>
          </a:bodyPr>
          <a:lstStyle/>
          <a:p>
            <a:r>
              <a:rPr lang="fr-FR" dirty="0"/>
              <a:t>DIOP Arame</a:t>
            </a:r>
          </a:p>
          <a:p>
            <a:r>
              <a:rPr lang="fr-FR" dirty="0"/>
              <a:t>L1-IAGE</a:t>
            </a:r>
          </a:p>
          <a:p>
            <a:r>
              <a:rPr lang="fr-FR" dirty="0"/>
              <a:t>16-06-2026</a:t>
            </a:r>
          </a:p>
        </p:txBody>
      </p:sp>
    </p:spTree>
    <p:extLst>
      <p:ext uri="{BB962C8B-B14F-4D97-AF65-F5344CB8AC3E}">
        <p14:creationId xmlns:p14="http://schemas.microsoft.com/office/powerpoint/2010/main" val="3985886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0804CA-CE2E-4D00-AD81-8E9704B9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                 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7FB62F-E067-4FF2-93A6-871E3E18AAD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1" y="2063396"/>
            <a:ext cx="10367682" cy="4032604"/>
          </a:xfrm>
        </p:spPr>
        <p:txBody>
          <a:bodyPr>
            <a:normAutofit/>
          </a:bodyPr>
          <a:lstStyle/>
          <a:p>
            <a:r>
              <a:rPr lang="fr-FR" dirty="0" err="1"/>
              <a:t>Introdution</a:t>
            </a:r>
            <a:endParaRPr lang="fr-FR" dirty="0"/>
          </a:p>
          <a:p>
            <a:r>
              <a:rPr lang="fr-FR" dirty="0"/>
              <a:t>Présentation du projet</a:t>
            </a:r>
          </a:p>
          <a:p>
            <a:r>
              <a:rPr lang="fr-FR" dirty="0"/>
              <a:t>Choix de design</a:t>
            </a:r>
          </a:p>
          <a:p>
            <a:r>
              <a:rPr lang="fr-FR" dirty="0"/>
              <a:t>Architecture</a:t>
            </a:r>
          </a:p>
          <a:p>
            <a:r>
              <a:rPr lang="fr-FR" dirty="0"/>
              <a:t>Points techniques</a:t>
            </a:r>
          </a:p>
          <a:p>
            <a:r>
              <a:rPr lang="fr-FR" dirty="0"/>
              <a:t>GitHub</a:t>
            </a:r>
          </a:p>
          <a:p>
            <a:r>
              <a:rPr lang="fr-FR" dirty="0"/>
              <a:t>Difficultés rencontrées et solutions</a:t>
            </a:r>
          </a:p>
          <a:p>
            <a:r>
              <a:rPr lang="fr-FR" dirty="0"/>
              <a:t>Ressources et documentation utilisées</a:t>
            </a:r>
          </a:p>
          <a:p>
            <a:r>
              <a:rPr lang="fr-FR" dirty="0"/>
              <a:t>Démonstration live du site</a:t>
            </a:r>
          </a:p>
          <a:p>
            <a:r>
              <a:rPr lang="fr-FR" dirty="0"/>
              <a:t>Conclusion et perspectives d'amélioration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8439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DCFA9F-E8B0-4AFF-B7AF-47C36B01E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PRESENTATION DU PROJET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8BAE1D-BAAD-4EDC-B738-DDE89FBF9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1B2F12E-6705-42B5-BE81-C9FFC101E0CD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Grand nombre de freelances qualifiés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Manque de visibilité pour ces talents locaux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Difficulté pour les clients de trouver des profils de confiance au </a:t>
            </a:r>
            <a:r>
              <a:rPr lang="fr-FR" dirty="0" err="1"/>
              <a:t>meme</a:t>
            </a:r>
            <a:r>
              <a:rPr lang="fr-FR" dirty="0"/>
              <a:t> endroit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329C8A6-B05C-4CF6-B3DA-AD2F871AB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dirty="0" err="1"/>
              <a:t>objectit</a:t>
            </a: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D310075-94A8-4DA0-8800-CB3D6592EBDE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Créer une plateforme web moderne et intuitive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Centraliser les profils de freelances sénégalais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Faciliter la mise en relation </a:t>
            </a:r>
            <a:r>
              <a:rPr lang="fr-FR" dirty="0" err="1"/>
              <a:t>grace</a:t>
            </a:r>
            <a:r>
              <a:rPr lang="fr-FR" dirty="0"/>
              <a:t> à une recherche par compétences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673F72B-B1AB-49E5-806D-51F2EBA137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Public ciblé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0802CAC-C084-4E2D-B688-F808497BD5D7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Les freelances : Développeurs, designers et profils tech cherchant des projets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Les recruteurs : Entreprises et particuliers à la recherche spécifiques</a:t>
            </a:r>
          </a:p>
        </p:txBody>
      </p:sp>
    </p:spTree>
    <p:extLst>
      <p:ext uri="{BB962C8B-B14F-4D97-AF65-F5344CB8AC3E}">
        <p14:creationId xmlns:p14="http://schemas.microsoft.com/office/powerpoint/2010/main" val="63307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19526F-209C-4966-A90D-8682A5D82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         Choix de design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C171E31-F4E6-4262-AD95-B206ABBEB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                   Palette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CBF8003-17D9-41F6-AF6A-FE3715A5674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Bleu Canard (⁠#0d9488⁠) : Couleur dominante. Symbolise la technologie, le professionnalisme et la confiance.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Or / Safran (⁠#e2b13c⁠) : Couleur d'accent. Évoque la chaleur de l'Afrique, l'énergie et l'excellence des talents.(étoiles)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Ardoise Sombre (⁠#0f172a⁠) : Utilisé pour les textes et contrastes forts pour garantir une excellente lisibilité.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Gris Neutre / Blanc (⁠#f8fafc⁠ / ⁠#</a:t>
            </a:r>
            <a:r>
              <a:rPr lang="fr-FR" dirty="0" err="1"/>
              <a:t>ffffff</a:t>
            </a:r>
            <a:r>
              <a:rPr lang="fr-FR" dirty="0"/>
              <a:t>⁠) : Pour les fonds, assurant la clarté et l'aération du site.</a:t>
            </a:r>
          </a:p>
          <a:p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1E50578-0E59-48EF-BF01-86A6B521CB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dirty="0"/>
              <a:t>                 Police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4D27FD3-6AD0-4B2F-B9ED-B6F08BEAEE9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10000"/>
          </a:bodyPr>
          <a:lstStyle/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Titres : Poppins (ou Montserrat) -&gt; Police moderne, ronde et géométrique. </a:t>
            </a:r>
            <a:r>
              <a:rPr lang="fr-FR" dirty="0" err="1"/>
              <a:t>Choise</a:t>
            </a:r>
            <a:r>
              <a:rPr lang="fr-FR" dirty="0"/>
              <a:t> pour donner un aspect dynamique, jeune et très orienté "Tech/SaaS".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 Corps de texte : Inter (ou Plus Jakarta Sans)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 -&gt; Police épurée, sans empattement. Justifiée pour sa lisibilité exceptionnelle sur écran (ordinateur comme mobile) afin de lire confortablement les descriptions des freelances.</a:t>
            </a:r>
          </a:p>
        </p:txBody>
      </p:sp>
    </p:spTree>
    <p:extLst>
      <p:ext uri="{BB962C8B-B14F-4D97-AF65-F5344CB8AC3E}">
        <p14:creationId xmlns:p14="http://schemas.microsoft.com/office/powerpoint/2010/main" val="427946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816D75-0181-431F-9E93-EF08124A3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     INSPIRATION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E67E9D-A4DE-4F5E-AEB8-A7916EB6C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9823" y="2384612"/>
            <a:ext cx="3147009" cy="795152"/>
          </a:xfrm>
        </p:spPr>
        <p:txBody>
          <a:bodyPr/>
          <a:lstStyle/>
          <a:p>
            <a:r>
              <a:rPr lang="fr-FR" dirty="0"/>
              <a:t>L'effet </a:t>
            </a:r>
            <a:r>
              <a:rPr lang="fr-FR" dirty="0" err="1"/>
              <a:t>Glassmorphism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B18C4A0-E380-4ECD-9684-A2F90B4EA377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fr-FR" dirty="0"/>
              <a:t>Utilisation de cartes d'affichage avec une légère transparence, des bordures fines et un effet de verre dépoli (</a:t>
            </a:r>
            <a:r>
              <a:rPr lang="fr-FR" dirty="0" err="1"/>
              <a:t>backdrop-filter</a:t>
            </a:r>
            <a:r>
              <a:rPr lang="fr-FR" dirty="0"/>
              <a:t>: </a:t>
            </a:r>
            <a:r>
              <a:rPr lang="fr-FR" dirty="0" err="1"/>
              <a:t>blur</a:t>
            </a:r>
            <a:r>
              <a:rPr lang="fr-FR" dirty="0"/>
              <a:t>). Cela apporte une profondeur moderne et un aspect premium à la plateforme.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5FACFE5-A37B-4B5F-921C-BEEB86548F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12721" y="2384610"/>
            <a:ext cx="3147009" cy="795152"/>
          </a:xfrm>
        </p:spPr>
        <p:txBody>
          <a:bodyPr/>
          <a:lstStyle/>
          <a:p>
            <a:r>
              <a:rPr lang="fr-FR" dirty="0"/>
              <a:t>Le Minimalisme &amp; l'Aération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EE95032B-C5CC-4F1E-82AB-9C7C00C67017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fr-FR" dirty="0"/>
              <a:t>Mise en page volontairement épurée pour éviter de surcharger l'utilisateur. L'accent est mis directement sur les profils des freelances et les boutons de contact.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874FE01C-3506-4FD1-A6E5-A18ED2DE4E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75619" y="2384610"/>
            <a:ext cx="3158246" cy="795153"/>
          </a:xfrm>
        </p:spPr>
        <p:txBody>
          <a:bodyPr/>
          <a:lstStyle/>
          <a:p>
            <a:r>
              <a:rPr lang="fr-FR" dirty="0"/>
              <a:t>Design orienté Composants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A483B17D-3E76-40FD-A811-A95D4225F11A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fr-FR" dirty="0"/>
              <a:t>Chaque freelance est présenté sous forme de "carte" claire, structurée avec sa photo, ses compétences (tags colorés) et son bouton d'action.</a:t>
            </a:r>
          </a:p>
        </p:txBody>
      </p:sp>
    </p:spTree>
    <p:extLst>
      <p:ext uri="{BB962C8B-B14F-4D97-AF65-F5344CB8AC3E}">
        <p14:creationId xmlns:p14="http://schemas.microsoft.com/office/powerpoint/2010/main" val="1525322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A37DF2-EDFD-4677-B37A-9E834AFC5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Micro-interactions réactives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C6BFAC-4A5C-47E7-BB67-9FD6DB3B2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Boutons arrondis, transitions douces au survol de la souris (effet de zoom, changement de couleur) pour rendre l'expérience utilisateur fluide et vivante.</a:t>
            </a:r>
          </a:p>
        </p:txBody>
      </p:sp>
    </p:spTree>
    <p:extLst>
      <p:ext uri="{BB962C8B-B14F-4D97-AF65-F5344CB8AC3E}">
        <p14:creationId xmlns:p14="http://schemas.microsoft.com/office/powerpoint/2010/main" val="4271023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B19310-ED12-4154-B4C9-4EAA1A6DA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ARBORESCENCE</a:t>
            </a:r>
          </a:p>
        </p:txBody>
      </p:sp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D72AACFB-C29C-4E17-9ED4-0686BB6A2BD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46" r="30146"/>
          <a:stretch>
            <a:fillRect/>
          </a:stretch>
        </p:blipFill>
        <p:spPr/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6427CBB-53BB-486A-B158-4661F10E7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3657599"/>
            <a:ext cx="2063375" cy="3039036"/>
          </a:xfrm>
        </p:spPr>
        <p:txBody>
          <a:bodyPr>
            <a:normAutofit/>
          </a:bodyPr>
          <a:lstStyle/>
          <a:p>
            <a:r>
              <a:rPr lang="fr-FR" dirty="0" err="1"/>
              <a:t>AfriTalent</a:t>
            </a:r>
            <a:r>
              <a:rPr lang="fr-FR" dirty="0"/>
              <a:t>/├── index.html                  ├── freelances.html           ├── about.html                 ├── tarifs.html              ├── contacts.html               ├── README.md                  ├── </a:t>
            </a:r>
            <a:r>
              <a:rPr lang="fr-FR" dirty="0" err="1"/>
              <a:t>css</a:t>
            </a:r>
            <a:r>
              <a:rPr lang="fr-FR" dirty="0"/>
              <a:t>/                     │   └── style.css              │── </a:t>
            </a:r>
            <a:r>
              <a:rPr lang="fr-FR" dirty="0" err="1"/>
              <a:t>js</a:t>
            </a:r>
            <a:r>
              <a:rPr lang="fr-FR" dirty="0"/>
              <a:t>/                         │  └── script.js</a:t>
            </a:r>
          </a:p>
          <a:p>
            <a:r>
              <a:rPr lang="fr-FR" dirty="0"/>
              <a:t>──images/</a:t>
            </a:r>
          </a:p>
        </p:txBody>
      </p:sp>
    </p:spTree>
    <p:extLst>
      <p:ext uri="{BB962C8B-B14F-4D97-AF65-F5344CB8AC3E}">
        <p14:creationId xmlns:p14="http://schemas.microsoft.com/office/powerpoint/2010/main" val="3413999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990B0F-2D98-44A6-8D46-D09F70A74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                ACCUEIL</a:t>
            </a:r>
          </a:p>
        </p:txBody>
      </p:sp>
      <p:pic>
        <p:nvPicPr>
          <p:cNvPr id="6" name="Espace réservé pour une image  5">
            <a:extLst>
              <a:ext uri="{FF2B5EF4-FFF2-40B4-BE49-F238E27FC236}">
                <a16:creationId xmlns:a16="http://schemas.microsoft.com/office/drawing/2014/main" id="{B8E9B793-6753-45F7-9641-D246BD80929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61" b="15461"/>
          <a:stretch>
            <a:fillRect/>
          </a:stretch>
        </p:blipFill>
        <p:spPr/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D70099A-622B-451B-8C92-CCA897406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dirty="0"/>
              <a:t>"Aperçu de la page d'accueil responsive avec intégration du </a:t>
            </a:r>
            <a:r>
              <a:rPr lang="fr-FR" dirty="0" err="1"/>
              <a:t>framework</a:t>
            </a:r>
            <a:r>
              <a:rPr lang="fr-FR" dirty="0"/>
              <a:t> Bootstrap et des effets visuels modernes."</a:t>
            </a:r>
          </a:p>
        </p:txBody>
      </p:sp>
    </p:spTree>
    <p:extLst>
      <p:ext uri="{BB962C8B-B14F-4D97-AF65-F5344CB8AC3E}">
        <p14:creationId xmlns:p14="http://schemas.microsoft.com/office/powerpoint/2010/main" val="491864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DAB84E-F7AB-49AD-8214-9FCFDBFE3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                        FREELANCE</a:t>
            </a:r>
          </a:p>
        </p:txBody>
      </p:sp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459AEBE8-1CAD-450C-94C3-C74F2612667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61" b="15461"/>
          <a:stretch>
            <a:fillRect/>
          </a:stretch>
        </p:blipFill>
        <p:spPr/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F06A416-587A-460F-B930-B083C6081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dirty="0"/>
              <a:t>"Aperçu du catalogue dynamique des talents avec système de filtrage interactif par compétences en JavaScript."</a:t>
            </a:r>
          </a:p>
        </p:txBody>
      </p:sp>
    </p:spTree>
    <p:extLst>
      <p:ext uri="{BB962C8B-B14F-4D97-AF65-F5344CB8AC3E}">
        <p14:creationId xmlns:p14="http://schemas.microsoft.com/office/powerpoint/2010/main" val="290326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83573F-DBE2-41B9-A9D4-E7BC650B9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       Points techniques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34F44E-B747-49B5-B909-8AC13945A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 Grille responsive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F381D3-8FF7-4B15-906E-6295D3889E0F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fr-FR" dirty="0"/>
              <a:t>Utilisation des classes ⁠container⁠, ⁠</a:t>
            </a:r>
            <a:r>
              <a:rPr lang="fr-FR" dirty="0" err="1"/>
              <a:t>row</a:t>
            </a:r>
            <a:r>
              <a:rPr lang="fr-FR" dirty="0"/>
              <a:t>⁠ et ⁠col⁠ pour adapter l'affichage sur ordinateur, tablette et mobile.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A64D3E5-62A9-47F7-9F46-F5D331109B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12721" y="2402541"/>
            <a:ext cx="3147009" cy="777221"/>
          </a:xfrm>
        </p:spPr>
        <p:txBody>
          <a:bodyPr/>
          <a:lstStyle/>
          <a:p>
            <a:r>
              <a:rPr lang="fr-FR" dirty="0"/>
              <a:t>Composants intégrés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A92612AC-98ED-4646-9005-63A87979B1B4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fr-FR" dirty="0"/>
              <a:t> Utilisation de la barre de navigation (⁠</a:t>
            </a:r>
            <a:r>
              <a:rPr lang="fr-FR" dirty="0" err="1"/>
              <a:t>navbar</a:t>
            </a:r>
            <a:r>
              <a:rPr lang="fr-FR" dirty="0"/>
              <a:t>⁠), des cartes de présentation (⁠</a:t>
            </a:r>
            <a:r>
              <a:rPr lang="fr-FR" dirty="0" err="1"/>
              <a:t>cards</a:t>
            </a:r>
            <a:r>
              <a:rPr lang="fr-FR" dirty="0"/>
              <a:t>⁠) pour les freelances, et de boutons stylisés.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1F221A71-A9EF-4D20-8041-E2FC31212C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 Gain de temps 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CB98833-4C0A-4864-A570-604E686DA282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fr-FR" dirty="0"/>
              <a:t> Utilisation des utilitaires d'espacement (comme ⁠mb-3⁠, ⁠py-5⁠) pour structurer proprement les sections.</a:t>
            </a:r>
          </a:p>
        </p:txBody>
      </p:sp>
    </p:spTree>
    <p:extLst>
      <p:ext uri="{BB962C8B-B14F-4D97-AF65-F5344CB8AC3E}">
        <p14:creationId xmlns:p14="http://schemas.microsoft.com/office/powerpoint/2010/main" val="179927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26B4E3-92C8-4D1C-8CA6-73CED8C08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       POINTS TECHNIQUES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049C76-5B45-4954-9CCB-45CD7C035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 Effet </a:t>
            </a:r>
            <a:r>
              <a:rPr lang="fr-FR" dirty="0" err="1"/>
              <a:t>Glassmorphism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AA87F9-58B5-4E23-B0B1-153CAC1DC584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fr-FR" dirty="0"/>
              <a:t>Application d'un style moderne avec fond transparent et flouté grâce à la propriété ⁠</a:t>
            </a:r>
            <a:r>
              <a:rPr lang="fr-FR" dirty="0" err="1"/>
              <a:t>backdrop-filter</a:t>
            </a:r>
            <a:r>
              <a:rPr lang="fr-FR" dirty="0"/>
              <a:t>: </a:t>
            </a:r>
            <a:r>
              <a:rPr lang="fr-FR" dirty="0" err="1"/>
              <a:t>blur</a:t>
            </a:r>
            <a:r>
              <a:rPr lang="fr-FR" dirty="0"/>
              <a:t>()⁠.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29D409D-D22B-4BED-9168-998BA4F264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dirty="0"/>
              <a:t> </a:t>
            </a:r>
            <a:r>
              <a:rPr lang="fr-FR" dirty="0" err="1"/>
              <a:t>Flexbox</a:t>
            </a:r>
            <a:r>
              <a:rPr lang="fr-FR" dirty="0"/>
              <a:t> 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13C6D927-7A9F-40CF-AD2A-B66517E3D27E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fr-FR" dirty="0"/>
              <a:t>Alignement précis et centrage parfait des éléments à l'intérieur des sections complexes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6CBDC37B-EC21-423A-B339-0123B4CFC4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 Interactions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56AFE148-D6A6-497C-A988-DD42CD9E1E75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fr-FR" dirty="0"/>
              <a:t> Ajout d'animations fluides au survol de la souris avec ⁠:</a:t>
            </a:r>
            <a:r>
              <a:rPr lang="fr-FR" dirty="0" err="1"/>
              <a:t>hover</a:t>
            </a:r>
            <a:r>
              <a:rPr lang="fr-FR" dirty="0"/>
              <a:t>⁠ et ⁠transition⁠ sur les cartes </a:t>
            </a:r>
          </a:p>
        </p:txBody>
      </p:sp>
    </p:spTree>
    <p:extLst>
      <p:ext uri="{BB962C8B-B14F-4D97-AF65-F5344CB8AC3E}">
        <p14:creationId xmlns:p14="http://schemas.microsoft.com/office/powerpoint/2010/main" val="2665174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6EEFCF-DE9B-4EBC-8F52-F9D5EA1B0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POINTS TECHNIQUES JavaScript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F6EEEB-1095-4D85-BA5C-8C3FF0CB9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Algorithme de Filtrage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BC907F6-FD58-4FE4-96BA-A3168B12015A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fr-FR" dirty="0"/>
              <a:t>Tri instantané des talents en fonction de la compétence sélectionnée par le recruteur.</a:t>
            </a:r>
          </a:p>
          <a:p>
            <a:r>
              <a:rPr lang="fr-FR" dirty="0"/>
              <a:t>Ex:  </a:t>
            </a:r>
            <a:r>
              <a:rPr lang="fr-FR" b="0" dirty="0">
                <a:solidFill>
                  <a:srgbClr val="FFC1E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b="0" dirty="0" err="1">
                <a:solidFill>
                  <a:srgbClr val="660F53"/>
                </a:solidFill>
                <a:effectLst/>
                <a:latin typeface="Consolas" panose="020B0609020204030204" pitchFamily="49" charset="0"/>
              </a:rPr>
              <a:t>cartes</a:t>
            </a:r>
            <a:r>
              <a:rPr lang="fr-FR" b="0" dirty="0" err="1">
                <a:solidFill>
                  <a:srgbClr val="A7A8A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i="1" dirty="0" err="1">
                <a:solidFill>
                  <a:srgbClr val="E06196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fr-FR" b="0" dirty="0">
                <a:solidFill>
                  <a:srgbClr val="FFC1E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b="0" i="1" dirty="0">
                <a:solidFill>
                  <a:srgbClr val="AA4D84"/>
                </a:solidFill>
                <a:effectLst/>
                <a:latin typeface="Consolas" panose="020B0609020204030204" pitchFamily="49" charset="0"/>
              </a:rPr>
              <a:t>carte</a:t>
            </a:r>
            <a:r>
              <a:rPr lang="fr-FR" b="0" dirty="0">
                <a:solidFill>
                  <a:srgbClr val="FFC1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AA4D84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r-FR" b="0" dirty="0">
                <a:solidFill>
                  <a:srgbClr val="FFC1E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b="0" dirty="0">
                <a:solidFill>
                  <a:srgbClr val="A7A8AF"/>
                </a:solidFill>
                <a:effectLst/>
                <a:latin typeface="Consolas" panose="020B0609020204030204" pitchFamily="49" charset="0"/>
              </a:rPr>
              <a:t>{</a:t>
            </a:r>
            <a:endParaRPr lang="fr-FR" b="0" dirty="0">
              <a:solidFill>
                <a:srgbClr val="FFC1EF"/>
              </a:solidFill>
              <a:effectLst/>
              <a:latin typeface="Consolas" panose="020B0609020204030204" pitchFamily="49" charset="0"/>
            </a:endParaRPr>
          </a:p>
          <a:p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847BD3B-F7DC-4CB2-893E-8A6C1BD72F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dirty="0"/>
              <a:t>Persistance (</a:t>
            </a:r>
            <a:r>
              <a:rPr lang="fr-FR" dirty="0" err="1"/>
              <a:t>LocalStorage</a:t>
            </a:r>
            <a:r>
              <a:rPr lang="fr-FR" dirty="0"/>
              <a:t>)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13F9875F-655E-4352-85C9-5EE6435B6767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fr-FR" dirty="0"/>
              <a:t>Sauvegarde locale des données (comme les choix de l'utilisateur ou les infos saisies) pour qu'elles restent enregistrées même après actualisation.</a:t>
            </a:r>
          </a:p>
          <a:p>
            <a:r>
              <a:rPr lang="fr-FR" dirty="0" err="1"/>
              <a:t>Ex:</a:t>
            </a:r>
            <a:r>
              <a:rPr lang="fr-FR" b="0" dirty="0" err="1">
                <a:solidFill>
                  <a:srgbClr val="660F53"/>
                </a:solidFill>
                <a:effectLst/>
                <a:latin typeface="Consolas" panose="020B0609020204030204" pitchFamily="49" charset="0"/>
              </a:rPr>
              <a:t>localStorage</a:t>
            </a:r>
            <a:r>
              <a:rPr lang="fr-FR" b="0" dirty="0" err="1">
                <a:solidFill>
                  <a:srgbClr val="A7A8A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i="1" dirty="0" err="1">
                <a:solidFill>
                  <a:srgbClr val="E06196"/>
                </a:solidFill>
                <a:effectLst/>
                <a:latin typeface="Consolas" panose="020B0609020204030204" pitchFamily="49" charset="0"/>
              </a:rPr>
              <a:t>setItem</a:t>
            </a:r>
            <a:r>
              <a:rPr lang="fr-FR" b="0" dirty="0">
                <a:solidFill>
                  <a:srgbClr val="FFC1EF"/>
                </a:solidFill>
                <a:effectLst/>
                <a:latin typeface="Consolas" panose="020B0609020204030204" pitchFamily="49" charset="0"/>
              </a:rPr>
              <a:t>('</a:t>
            </a:r>
            <a:r>
              <a:rPr lang="fr-FR" b="0" dirty="0" err="1">
                <a:solidFill>
                  <a:srgbClr val="FFC1EF"/>
                </a:solidFill>
                <a:effectLst/>
                <a:latin typeface="Consolas" panose="020B0609020204030204" pitchFamily="49" charset="0"/>
              </a:rPr>
              <a:t>darkMode</a:t>
            </a:r>
            <a:r>
              <a:rPr lang="fr-FR" b="0" dirty="0">
                <a:solidFill>
                  <a:srgbClr val="FFC1EF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fr-FR" b="0" dirty="0" err="1">
                <a:solidFill>
                  <a:srgbClr val="FFC1EF"/>
                </a:solidFill>
                <a:effectLst/>
                <a:latin typeface="Consolas" panose="020B0609020204030204" pitchFamily="49" charset="0"/>
              </a:rPr>
              <a:t>enabled</a:t>
            </a:r>
            <a:r>
              <a:rPr lang="fr-FR" b="0" dirty="0">
                <a:solidFill>
                  <a:srgbClr val="FFC1EF"/>
                </a:solidFill>
                <a:effectLst/>
                <a:latin typeface="Consolas" panose="020B0609020204030204" pitchFamily="49" charset="0"/>
              </a:rPr>
              <a:t>')</a:t>
            </a:r>
            <a:r>
              <a:rPr lang="fr-FR" b="0" dirty="0">
                <a:solidFill>
                  <a:srgbClr val="A7A8AF"/>
                </a:solidFill>
                <a:effectLst/>
                <a:latin typeface="Consolas" panose="020B0609020204030204" pitchFamily="49" charset="0"/>
              </a:rPr>
              <a:t>;</a:t>
            </a:r>
            <a:endParaRPr lang="fr-FR" b="0" dirty="0">
              <a:solidFill>
                <a:srgbClr val="FFC1EF"/>
              </a:solidFill>
              <a:effectLst/>
              <a:latin typeface="Consolas" panose="020B0609020204030204" pitchFamily="49" charset="0"/>
            </a:endParaRPr>
          </a:p>
          <a:p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FE9CC02-F73F-4436-8B8F-704F326954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Gestion des événements 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B58679B1-D14C-4294-8E79-DEAEB33F0574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fr-FR" dirty="0"/>
              <a:t>Utilisation d'écouteurs (⁠</a:t>
            </a:r>
            <a:r>
              <a:rPr lang="fr-FR" dirty="0" err="1"/>
              <a:t>addEventListener</a:t>
            </a:r>
            <a:r>
              <a:rPr lang="fr-FR" dirty="0"/>
              <a:t>⁠) sur les boutons et les champs de saisie.</a:t>
            </a:r>
          </a:p>
          <a:p>
            <a:r>
              <a:rPr lang="fr-FR" dirty="0" err="1"/>
              <a:t>Ex:</a:t>
            </a:r>
            <a:r>
              <a:rPr lang="fr-FR" b="0" dirty="0" err="1">
                <a:solidFill>
                  <a:srgbClr val="660F53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fr-FR" b="0" dirty="0" err="1">
                <a:solidFill>
                  <a:srgbClr val="A7A8A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b="0" i="1" dirty="0" err="1">
                <a:solidFill>
                  <a:srgbClr val="E06196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fr-FR" b="0" dirty="0">
                <a:solidFill>
                  <a:srgbClr val="FFC1EF"/>
                </a:solidFill>
                <a:effectLst/>
                <a:latin typeface="Consolas" panose="020B0609020204030204" pitchFamily="49" charset="0"/>
              </a:rPr>
              <a:t>('scroll', </a:t>
            </a:r>
            <a:r>
              <a:rPr lang="fr-FR" b="0" dirty="0" err="1">
                <a:solidFill>
                  <a:srgbClr val="FFC1E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fr-FR" b="0" dirty="0">
                <a:solidFill>
                  <a:srgbClr val="A7A8AF"/>
                </a:solidFill>
                <a:effectLst/>
                <a:latin typeface="Consolas" panose="020B0609020204030204" pitchFamily="49" charset="0"/>
              </a:rPr>
              <a:t>(){</a:t>
            </a:r>
            <a:endParaRPr lang="fr-FR" b="0" dirty="0">
              <a:solidFill>
                <a:srgbClr val="FFC1EF"/>
              </a:solidFill>
              <a:effectLst/>
              <a:latin typeface="Consolas" panose="020B0609020204030204" pitchFamily="49" charset="0"/>
            </a:endParaRP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7695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A53020-5997-4792-8DC9-8E23AEAF7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GitHub 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9C884D-350B-4688-A0A3-F82449DF3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5954" y="251011"/>
            <a:ext cx="4984376" cy="6606989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AutoNum type="arabicPeriod"/>
            </a:pPr>
            <a:r>
              <a:rPr lang="fr-FR" dirty="0"/>
              <a:t>Workflow Git (Suivi du code) Utilisation de Git en local pour versionner le projet pas à pas. Commandes clés utilisées régulièrement : ⁠git init⁠, ⁠git </a:t>
            </a:r>
            <a:r>
              <a:rPr lang="fr-FR" dirty="0" err="1"/>
              <a:t>add</a:t>
            </a:r>
            <a:r>
              <a:rPr lang="fr-FR" dirty="0"/>
              <a:t> .⁠, ⁠git commit -m "..."⁠ et ⁠git push⁠</a:t>
            </a:r>
          </a:p>
          <a:p>
            <a:pPr marL="457200" indent="-457200">
              <a:buAutoNum type="arabicPeriod"/>
            </a:pPr>
            <a:r>
              <a:rPr lang="fr-FR" dirty="0"/>
              <a:t>2. Historique des </a:t>
            </a:r>
            <a:r>
              <a:rPr lang="fr-FR" dirty="0" err="1"/>
              <a:t>Commits</a:t>
            </a:r>
            <a:r>
              <a:rPr lang="fr-FR" dirty="0"/>
              <a:t> (Suivi des jalons) Structure rigoureuse du projet découpée en étapes clés (</a:t>
            </a:r>
            <a:r>
              <a:rPr lang="fr-FR" dirty="0" err="1"/>
              <a:t>Commits</a:t>
            </a:r>
            <a:r>
              <a:rPr lang="fr-FR" dirty="0"/>
              <a:t> 1 à 6). Permet de suivre l'évolution logique du développement : de l'intégration du design HTML/CSS jusqu'à l'ajout dynamique du JavaScript et du </a:t>
            </a:r>
            <a:r>
              <a:rPr lang="fr-FR" dirty="0" err="1"/>
              <a:t>LocalStorage</a:t>
            </a:r>
            <a:r>
              <a:rPr lang="fr-FR" dirty="0"/>
              <a:t>.</a:t>
            </a:r>
          </a:p>
          <a:p>
            <a:pPr marL="457200" indent="-457200">
              <a:buAutoNum type="arabicPeriod"/>
            </a:pPr>
            <a:r>
              <a:rPr lang="fr-FR" dirty="0"/>
              <a:t>3. Déploiement (GitHub Pages) Hébergement gratuit du code source sur un dépôt GitHub public. Déploiement continu et automatique via GitHub Pages pour rendre le site </a:t>
            </a:r>
            <a:r>
              <a:rPr lang="fr-FR" dirty="0" err="1"/>
              <a:t>AfriTalent</a:t>
            </a:r>
            <a:r>
              <a:rPr lang="fr-FR" dirty="0"/>
              <a:t> accessible en ligne à tout moment par les utilisateurs</a:t>
            </a:r>
          </a:p>
        </p:txBody>
      </p:sp>
    </p:spTree>
    <p:extLst>
      <p:ext uri="{BB962C8B-B14F-4D97-AF65-F5344CB8AC3E}">
        <p14:creationId xmlns:p14="http://schemas.microsoft.com/office/powerpoint/2010/main" val="3631029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66EEDB-C6A6-4237-9618-0B8A392BE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Difficultés rencontrées et solutions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F52926-0A34-4FB8-AE2D-C8CE0CDE2D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dirty="0"/>
              <a:t>Problème 1 : Persistance des données lors de l'actualisation Difficulté : Au début, chaque fois que l'utilisateur rafraîchissait la page, toutes les données saisies ou filtrées disparaissaient</a:t>
            </a:r>
          </a:p>
          <a:p>
            <a:r>
              <a:rPr lang="fr-FR" dirty="0"/>
              <a:t> Solution : Implémentation et intégration du </a:t>
            </a:r>
            <a:r>
              <a:rPr lang="fr-FR" dirty="0" err="1"/>
              <a:t>LocalStorage</a:t>
            </a:r>
            <a:r>
              <a:rPr lang="fr-FR" dirty="0"/>
              <a:t> en JavaScript pour sauvegarder localement l'état de l'application et conserver les données intactes.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01D92E4-48C7-4080-9F23-1F4644EBC1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r-FR" dirty="0"/>
              <a:t> Problème 2 : Fluidité et superposition du design (</a:t>
            </a:r>
            <a:r>
              <a:rPr lang="fr-FR" dirty="0" err="1"/>
              <a:t>Glassmorphism</a:t>
            </a:r>
            <a:r>
              <a:rPr lang="fr-FR" dirty="0"/>
              <a:t>) Difficulté : Superposer proprement la barre de navigation transparente et les cartes d'affichage sans perturber le reste de la mise en page responsive.</a:t>
            </a:r>
          </a:p>
          <a:p>
            <a:r>
              <a:rPr lang="fr-FR" dirty="0"/>
              <a:t>Solution : Utilisation approfondie des propriétés CSS avancées (⁠</a:t>
            </a:r>
            <a:r>
              <a:rPr lang="fr-FR" dirty="0" err="1"/>
              <a:t>backdrop-filter</a:t>
            </a:r>
            <a:r>
              <a:rPr lang="fr-FR" dirty="0"/>
              <a:t>⁠, ⁠z-index⁠) combinées avec la structure de la grille Bootstrap pour un rendu harmonieux.</a:t>
            </a:r>
          </a:p>
        </p:txBody>
      </p:sp>
    </p:spTree>
    <p:extLst>
      <p:ext uri="{BB962C8B-B14F-4D97-AF65-F5344CB8AC3E}">
        <p14:creationId xmlns:p14="http://schemas.microsoft.com/office/powerpoint/2010/main" val="3501757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6DA22F-9156-44B9-ADA1-6B398A9AD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Ressources et documentation utilisées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237B70-2C7E-4C05-BFBC-8C4359A7F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5559" y="1"/>
            <a:ext cx="4141487" cy="6669740"/>
          </a:xfrm>
        </p:spPr>
        <p:txBody>
          <a:bodyPr>
            <a:normAutofit/>
          </a:bodyPr>
          <a:lstStyle/>
          <a:p>
            <a:pPr marL="342900" indent="-342900">
              <a:buFont typeface="Symbol" panose="05050102010706020507" pitchFamily="18" charset="2"/>
              <a:buChar char="Þ"/>
            </a:pPr>
            <a:r>
              <a:rPr lang="fr-FR" dirty="0"/>
              <a:t>MDN Web Docs : Référence officielle pour la syntaxe JavaScript et les propriétés CSS avancées. Bootstrap Documentation : Pour l'intégration correcte des composants responsive (Grille, </a:t>
            </a:r>
            <a:r>
              <a:rPr lang="fr-FR" dirty="0" err="1"/>
              <a:t>Navbar</a:t>
            </a:r>
            <a:r>
              <a:rPr lang="fr-FR" dirty="0"/>
              <a:t>, </a:t>
            </a:r>
            <a:r>
              <a:rPr lang="fr-FR" dirty="0" err="1"/>
              <a:t>Cards</a:t>
            </a:r>
            <a:r>
              <a:rPr lang="fr-FR" dirty="0"/>
              <a:t>).</a:t>
            </a:r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fr-FR" dirty="0"/>
              <a:t> Google Fonts : Pour l'importation et l'intégration des polices modernes . Bootstrap </a:t>
            </a:r>
            <a:r>
              <a:rPr lang="fr-FR" dirty="0" err="1"/>
              <a:t>Icons</a:t>
            </a:r>
            <a:r>
              <a:rPr lang="fr-FR" dirty="0"/>
              <a:t> : Pour l'utilisation des icônes vectorielles épurées sur l'interface.</a:t>
            </a:r>
          </a:p>
        </p:txBody>
      </p:sp>
    </p:spTree>
    <p:extLst>
      <p:ext uri="{BB962C8B-B14F-4D97-AF65-F5344CB8AC3E}">
        <p14:creationId xmlns:p14="http://schemas.microsoft.com/office/powerpoint/2010/main" val="1525398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7BEE2A-2D76-40F6-8B55-03DBFFB45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Démonstration live du site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7B18E0-739E-437F-8E51-7ABD15C6C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9324787" cy="2965076"/>
          </a:xfrm>
        </p:spPr>
        <p:txBody>
          <a:bodyPr/>
          <a:lstStyle/>
          <a:p>
            <a:r>
              <a:rPr lang="fr-FR" b="1" i="0" dirty="0">
                <a:solidFill>
                  <a:srgbClr val="1F2328"/>
                </a:solidFill>
                <a:effectLst/>
                <a:latin typeface="Mona Sans VF"/>
              </a:rPr>
              <a:t>                               </a:t>
            </a:r>
            <a:r>
              <a:rPr lang="fr-FR" b="1" i="0" u="sng" dirty="0">
                <a:solidFill>
                  <a:srgbClr val="0969DA"/>
                </a:solidFill>
                <a:effectLst/>
                <a:latin typeface="Mona Sans VF"/>
                <a:hlinkClick r:id="rId2"/>
              </a:rPr>
              <a:t>https://darame603-ai.github.io/Diop-Arame-Afritalent/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3612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0483F2-1674-485D-84C9-99418F8E1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        BILAN DU PROJET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4BB976-F5A5-4107-8DF9-A99A2F554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DEVELOPPEMENT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D33AECE-E7E7-4DB1-9134-997F98AB4C15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r>
              <a:rPr lang="fr-FR" dirty="0"/>
              <a:t>Développement complet d'une plateforme web moderne, responsive et fonctionnelle adaptée aux besoins du marché des freelances au Sénégal.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A4E8CE2-FF59-47CB-98EE-30E99BDDA5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dirty="0"/>
              <a:t>ACQUISITION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4F9EC8D-63BE-4BE1-BFC3-9FE991662A2B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fr-FR" dirty="0"/>
              <a:t>Acquisition de compétences solides en intégration (Bootstrap 5, CSS avancé) et en logique de programmation (JavaScript, gestion du </a:t>
            </a:r>
            <a:r>
              <a:rPr lang="fr-FR" dirty="0" err="1"/>
              <a:t>LocalStorage</a:t>
            </a:r>
            <a:r>
              <a:rPr lang="fr-FR" dirty="0"/>
              <a:t>).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9DBB6268-B639-4C0E-B700-FFE2EB7283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MAITRISE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A8CC8EB8-127D-4573-BC71-A07446EF2ECB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fr-FR" dirty="0"/>
              <a:t>Maîtrise des outils professionnels de versioning et de déploiement (Git et GitHub).</a:t>
            </a:r>
          </a:p>
        </p:txBody>
      </p:sp>
    </p:spTree>
    <p:extLst>
      <p:ext uri="{BB962C8B-B14F-4D97-AF65-F5344CB8AC3E}">
        <p14:creationId xmlns:p14="http://schemas.microsoft.com/office/powerpoint/2010/main" val="2038428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2AB7DB-D005-4710-B1A2-7DF4D48F0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   PERSPECTIVES D’EVOLUTION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FD6A23-46D7-4296-ADDE-96EF5AE3A7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Développement complet d'une plateforme web moderne, responsive et fonctionnelle adaptée aux besoins du marché des freelances au Sénégal.</a:t>
            </a:r>
          </a:p>
          <a:p>
            <a:r>
              <a:rPr lang="fr-FR" dirty="0"/>
              <a:t> Acquisition de compétences solides en intégration (Bootstrap 5, CSS avancé) et en logique de programmation (JavaScript, gestion du </a:t>
            </a:r>
            <a:r>
              <a:rPr lang="fr-FR" dirty="0" err="1"/>
              <a:t>LocalStorage</a:t>
            </a:r>
            <a:r>
              <a:rPr lang="fr-FR" dirty="0"/>
              <a:t>). Maîtrise des outils professionnels de versioning et de déploiement (Git et GitHub).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EF0090D-1914-4294-89CA-8C083310F5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Connecter le site à une véritable base de données (MySQL ou MongoDB) pour gérer des milliers de profils.</a:t>
            </a:r>
          </a:p>
          <a:p>
            <a:r>
              <a:rPr lang="fr-FR" dirty="0"/>
              <a:t> Développer un espace de connexion sécurisé (Dashboard) pour les freelances et les recruteurs. Intégrer une API de paiement local (comme </a:t>
            </a:r>
            <a:r>
              <a:rPr lang="fr-FR" dirty="0" err="1"/>
              <a:t>Wave</a:t>
            </a:r>
            <a:r>
              <a:rPr lang="fr-FR" dirty="0"/>
              <a:t>) directement sur la page des Tarifs.</a:t>
            </a:r>
          </a:p>
        </p:txBody>
      </p:sp>
    </p:spTree>
    <p:extLst>
      <p:ext uri="{BB962C8B-B14F-4D97-AF65-F5344CB8AC3E}">
        <p14:creationId xmlns:p14="http://schemas.microsoft.com/office/powerpoint/2010/main" val="40109873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le d’ions">
  <a:themeElements>
    <a:clrScheme name="Salle d’ions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Salle d’ions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le d’ions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94</TotalTime>
  <Words>1302</Words>
  <Application>Microsoft Office PowerPoint</Application>
  <PresentationFormat>Grand écran</PresentationFormat>
  <Paragraphs>103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5" baseType="lpstr">
      <vt:lpstr>Arial</vt:lpstr>
      <vt:lpstr>Century Gothic</vt:lpstr>
      <vt:lpstr>Consolas</vt:lpstr>
      <vt:lpstr>Mona Sans VF</vt:lpstr>
      <vt:lpstr>Symbol</vt:lpstr>
      <vt:lpstr>Wingdings 3</vt:lpstr>
      <vt:lpstr>Salle d’ions</vt:lpstr>
      <vt:lpstr>            AFRITALENT</vt:lpstr>
      <vt:lpstr>                          SOMMAIRE</vt:lpstr>
      <vt:lpstr> PRESENTATION DU PROJET</vt:lpstr>
      <vt:lpstr>                  Choix de design</vt:lpstr>
      <vt:lpstr>              INSPIRATION</vt:lpstr>
      <vt:lpstr>Micro-interactions réactives</vt:lpstr>
      <vt:lpstr>ARBORESCENCE</vt:lpstr>
      <vt:lpstr>                         ACCUEIL</vt:lpstr>
      <vt:lpstr>                                 FREELANCE</vt:lpstr>
      <vt:lpstr>                Points techniques</vt:lpstr>
      <vt:lpstr>                POINTS TECHNIQUES</vt:lpstr>
      <vt:lpstr>POINTS TECHNIQUES JavaScript</vt:lpstr>
      <vt:lpstr>       GitHub </vt:lpstr>
      <vt:lpstr>    Difficultés rencontrées et solutions</vt:lpstr>
      <vt:lpstr>Ressources et documentation utilisées</vt:lpstr>
      <vt:lpstr>        Démonstration live du site</vt:lpstr>
      <vt:lpstr>           BILAN DU PROJET</vt:lpstr>
      <vt:lpstr>   PERSPECTIVES D’EVOLUTION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</dc:title>
  <dc:creator>hp</dc:creator>
  <cp:lastModifiedBy>hp</cp:lastModifiedBy>
  <cp:revision>11</cp:revision>
  <dcterms:created xsi:type="dcterms:W3CDTF">2026-06-16T23:30:09Z</dcterms:created>
  <dcterms:modified xsi:type="dcterms:W3CDTF">2026-06-17T01:04:58Z</dcterms:modified>
</cp:coreProperties>
</file>